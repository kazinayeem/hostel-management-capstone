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7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4630400" cy="82296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78" d="100"/>
          <a:sy n="78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616308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" name="Text box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9" name="Text box"/>
          <p:cNvSpPr>
            <a:spLocks noGrp="1"/>
          </p:cNvSpPr>
          <p:nvPr>
            <p:ph type="sldNum" idx="10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435377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5" name="Text box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6" name="Text box"/>
          <p:cNvSpPr>
            <a:spLocks noGrp="1"/>
          </p:cNvSpPr>
          <p:nvPr>
            <p:ph type="sldNum" idx="10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414252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2" name="Text box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3" name="Text box"/>
          <p:cNvSpPr>
            <a:spLocks noGrp="1"/>
          </p:cNvSpPr>
          <p:nvPr>
            <p:ph type="sldNum" idx="10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664325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Object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5" name="Text box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6" name="Text box"/>
          <p:cNvSpPr>
            <a:spLocks noGrp="1"/>
          </p:cNvSpPr>
          <p:nvPr>
            <p:ph type="sldNum" idx="10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583975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Object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9" name="Text box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90" name="Text box"/>
          <p:cNvSpPr>
            <a:spLocks noGrp="1"/>
          </p:cNvSpPr>
          <p:nvPr>
            <p:ph type="sldNum" idx="10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582589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Object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9" name="Text box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00" name="Text box"/>
          <p:cNvSpPr>
            <a:spLocks noGrp="1"/>
          </p:cNvSpPr>
          <p:nvPr>
            <p:ph type="sldNum" idx="10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027083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Object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1" name="Text box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12" name="Text box"/>
          <p:cNvSpPr>
            <a:spLocks noGrp="1"/>
          </p:cNvSpPr>
          <p:nvPr>
            <p:ph type="sldNum" idx="10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720849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Object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1" name="Text box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22" name="Text box"/>
          <p:cNvSpPr>
            <a:spLocks noGrp="1"/>
          </p:cNvSpPr>
          <p:nvPr>
            <p:ph type="sldNum" idx="10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345315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Object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4" name="Text box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35" name="Text box"/>
          <p:cNvSpPr>
            <a:spLocks noGrp="1"/>
          </p:cNvSpPr>
          <p:nvPr>
            <p:ph type="sldNum" idx="10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324293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bject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8" name="Text box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49" name="Text box"/>
          <p:cNvSpPr>
            <a:spLocks noGrp="1"/>
          </p:cNvSpPr>
          <p:nvPr>
            <p:ph type="sldNum" idx="10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690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2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2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2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2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2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1097280" y="2556510"/>
            <a:ext cx="12435840" cy="176403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925828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953751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85259041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566936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736690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610380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4748530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75009042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06257827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92093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9401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914244"/>
      </p:ext>
    </p:extLst>
  </p:cSld>
  <p:clrMapOvr>
    <a:masterClrMapping/>
  </p:clrMapOvr>
  <p:hf sldNum="0"/>
</p:sldLayout>
</file>

<file path=ppt/slideLayouts/slideLayout13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4630401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" name="Rectangles"/>
          <p:cNvSpPr>
            <a:spLocks/>
          </p:cNvSpPr>
          <p:nvPr/>
        </p:nvSpPr>
        <p:spPr>
          <a:xfrm rot="0">
            <a:off x="0" y="0"/>
            <a:ext cx="14630401" cy="8229600"/>
          </a:xfrm>
          <a:prstGeom prst="rect"/>
          <a:solidFill>
            <a:srgbClr val="FFFDFA"/>
          </a:solidFill>
          <a:ln w="12700" cmpd="sng" cap="flat">
            <a:noFill/>
            <a:prstDash val="solid"/>
            <a:miter/>
          </a:ln>
        </p:spPr>
      </p:sp>
      <p:pic>
        <p:nvPicPr>
          <p:cNvPr id="7" name="Images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2839215" y="7749539"/>
            <a:ext cx="1722604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074995071"/>
      </p:ext>
    </p:extLst>
  </p:cSld>
  <p:clrMapOvr>
    <a:masterClrMapping/>
  </p:clrMapOvr>
  <p:hf sldNum="0"/>
</p:sldLayout>
</file>

<file path=ppt/slideLayouts/slideLayout14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4630401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1" name="Rectangles"/>
          <p:cNvSpPr>
            <a:spLocks/>
          </p:cNvSpPr>
          <p:nvPr/>
        </p:nvSpPr>
        <p:spPr>
          <a:xfrm rot="0">
            <a:off x="0" y="0"/>
            <a:ext cx="14630401" cy="8229600"/>
          </a:xfrm>
          <a:prstGeom prst="rect"/>
          <a:solidFill>
            <a:srgbClr val="FFFDFA"/>
          </a:solidFill>
          <a:ln w="12700" cmpd="sng" cap="flat">
            <a:noFill/>
            <a:prstDash val="solid"/>
            <a:miter/>
          </a:ln>
        </p:spPr>
      </p:sp>
      <p:pic>
        <p:nvPicPr>
          <p:cNvPr id="22" name="Images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2839215" y="7749539"/>
            <a:ext cx="1722604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456102169"/>
      </p:ext>
    </p:extLst>
  </p:cSld>
  <p:clrMapOvr>
    <a:masterClrMapping/>
  </p:clrMapOvr>
  <p:hf sldNum="0"/>
</p:sldLayout>
</file>

<file path=ppt/slideLayouts/slideLayout15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4630401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8" name="Rectangles"/>
          <p:cNvSpPr>
            <a:spLocks/>
          </p:cNvSpPr>
          <p:nvPr/>
        </p:nvSpPr>
        <p:spPr>
          <a:xfrm rot="0">
            <a:off x="0" y="0"/>
            <a:ext cx="14630401" cy="8229600"/>
          </a:xfrm>
          <a:prstGeom prst="rect"/>
          <a:solidFill>
            <a:srgbClr val="FFFDFA"/>
          </a:solidFill>
          <a:ln w="12700" cmpd="sng" cap="flat">
            <a:noFill/>
            <a:prstDash val="solid"/>
            <a:miter/>
          </a:ln>
        </p:spPr>
      </p:sp>
      <p:pic>
        <p:nvPicPr>
          <p:cNvPr id="39" name="Images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2839215" y="7749539"/>
            <a:ext cx="1722604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78139220"/>
      </p:ext>
    </p:extLst>
  </p:cSld>
  <p:clrMapOvr>
    <a:masterClrMapping/>
  </p:clrMapOvr>
  <p:hf sldNum="0"/>
</p:sldLayout>
</file>

<file path=ppt/slideLayouts/slideLayout16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4630401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5" name="Rectangles"/>
          <p:cNvSpPr>
            <a:spLocks/>
          </p:cNvSpPr>
          <p:nvPr/>
        </p:nvSpPr>
        <p:spPr>
          <a:xfrm rot="0">
            <a:off x="0" y="0"/>
            <a:ext cx="14630401" cy="8229600"/>
          </a:xfrm>
          <a:prstGeom prst="rect"/>
          <a:solidFill>
            <a:srgbClr val="FFFDFA"/>
          </a:solidFill>
          <a:ln w="12700" cmpd="sng" cap="flat">
            <a:noFill/>
            <a:prstDash val="solid"/>
            <a:miter/>
          </a:ln>
        </p:spPr>
      </p:sp>
      <p:pic>
        <p:nvPicPr>
          <p:cNvPr id="56" name="Images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2839215" y="7749539"/>
            <a:ext cx="1722604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525028436"/>
      </p:ext>
    </p:extLst>
  </p:cSld>
  <p:clrMapOvr>
    <a:masterClrMapping/>
  </p:clrMapOvr>
  <p:hf sldNum="0"/>
</p:sldLayout>
</file>

<file path=ppt/slideLayouts/slideLayout17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4630401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78" name="Rectangles"/>
          <p:cNvSpPr>
            <a:spLocks/>
          </p:cNvSpPr>
          <p:nvPr/>
        </p:nvSpPr>
        <p:spPr>
          <a:xfrm rot="0">
            <a:off x="0" y="0"/>
            <a:ext cx="14630401" cy="8229600"/>
          </a:xfrm>
          <a:prstGeom prst="rect"/>
          <a:solidFill>
            <a:srgbClr val="FFFDFA"/>
          </a:solidFill>
          <a:ln w="12700" cmpd="sng" cap="flat">
            <a:noFill/>
            <a:prstDash val="solid"/>
            <a:miter/>
          </a:ln>
        </p:spPr>
      </p:sp>
      <p:pic>
        <p:nvPicPr>
          <p:cNvPr id="79" name="Images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2839215" y="7749539"/>
            <a:ext cx="1722604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151516670"/>
      </p:ext>
    </p:extLst>
  </p:cSld>
  <p:clrMapOvr>
    <a:masterClrMapping/>
  </p:clrMapOvr>
  <p:hf sldNum="0"/>
</p:sldLayout>
</file>

<file path=ppt/slideLayouts/slideLayout18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4630401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2" name="Rectangles"/>
          <p:cNvSpPr>
            <a:spLocks/>
          </p:cNvSpPr>
          <p:nvPr/>
        </p:nvSpPr>
        <p:spPr>
          <a:xfrm rot="0">
            <a:off x="0" y="0"/>
            <a:ext cx="14630401" cy="8229600"/>
          </a:xfrm>
          <a:prstGeom prst="rect"/>
          <a:solidFill>
            <a:srgbClr val="FFFDFA"/>
          </a:solidFill>
          <a:ln w="12700" cmpd="sng" cap="flat">
            <a:noFill/>
            <a:prstDash val="solid"/>
            <a:miter/>
          </a:ln>
        </p:spPr>
      </p:sp>
      <p:pic>
        <p:nvPicPr>
          <p:cNvPr id="93" name="Images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2839215" y="7749539"/>
            <a:ext cx="1722604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831035889"/>
      </p:ext>
    </p:extLst>
  </p:cSld>
  <p:clrMapOvr>
    <a:masterClrMapping/>
  </p:clrMapOvr>
  <p:hf sldNum="0"/>
</p:sldLayout>
</file>

<file path=ppt/slideLayouts/slideLayout19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4630401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2" name="Rectangles"/>
          <p:cNvSpPr>
            <a:spLocks/>
          </p:cNvSpPr>
          <p:nvPr/>
        </p:nvSpPr>
        <p:spPr>
          <a:xfrm rot="0">
            <a:off x="0" y="0"/>
            <a:ext cx="14630401" cy="8229600"/>
          </a:xfrm>
          <a:prstGeom prst="rect"/>
          <a:solidFill>
            <a:srgbClr val="FFFDFA"/>
          </a:solidFill>
          <a:ln w="12700" cmpd="sng" cap="flat">
            <a:noFill/>
            <a:prstDash val="solid"/>
            <a:miter/>
          </a:ln>
        </p:spPr>
      </p:sp>
      <p:pic>
        <p:nvPicPr>
          <p:cNvPr id="103" name="Images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2839215" y="7749539"/>
            <a:ext cx="1722604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552894016"/>
      </p:ext>
    </p:extLst>
  </p:cSld>
  <p:clrMapOvr>
    <a:masterClrMapping/>
  </p:clrMapOvr>
  <p:hf sldNum="0"/>
</p:sldLayout>
</file>

<file path=ppt/slideLayouts/slideLayout20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4630401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14" name="Rectangles"/>
          <p:cNvSpPr>
            <a:spLocks/>
          </p:cNvSpPr>
          <p:nvPr/>
        </p:nvSpPr>
        <p:spPr>
          <a:xfrm rot="0">
            <a:off x="0" y="0"/>
            <a:ext cx="14630401" cy="8229600"/>
          </a:xfrm>
          <a:prstGeom prst="rect"/>
          <a:solidFill>
            <a:srgbClr val="FFFDFA"/>
          </a:solidFill>
          <a:ln w="12700" cmpd="sng" cap="flat">
            <a:noFill/>
            <a:prstDash val="solid"/>
            <a:miter/>
          </a:ln>
        </p:spPr>
      </p:sp>
      <p:pic>
        <p:nvPicPr>
          <p:cNvPr id="115" name="Images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2839215" y="7749539"/>
            <a:ext cx="1722604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696066116"/>
      </p:ext>
    </p:extLst>
  </p:cSld>
  <p:clrMapOvr>
    <a:masterClrMapping/>
  </p:clrMapOvr>
  <p:hf sldNum="0"/>
</p:sldLayout>
</file>

<file path=ppt/slideLayouts/slideLayout21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4630401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24" name="Rectangles"/>
          <p:cNvSpPr>
            <a:spLocks/>
          </p:cNvSpPr>
          <p:nvPr/>
        </p:nvSpPr>
        <p:spPr>
          <a:xfrm rot="0">
            <a:off x="0" y="0"/>
            <a:ext cx="14630401" cy="8229600"/>
          </a:xfrm>
          <a:prstGeom prst="rect"/>
          <a:solidFill>
            <a:srgbClr val="FFFDFA"/>
          </a:solidFill>
          <a:ln w="12700" cmpd="sng" cap="flat">
            <a:noFill/>
            <a:prstDash val="solid"/>
            <a:miter/>
          </a:ln>
        </p:spPr>
      </p:sp>
      <p:pic>
        <p:nvPicPr>
          <p:cNvPr id="125" name="Images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2839215" y="7749539"/>
            <a:ext cx="1722604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539403202"/>
      </p:ext>
    </p:extLst>
  </p:cSld>
  <p:clrMapOvr>
    <a:masterClrMapping/>
  </p:clrMapOvr>
  <p:hf sldNum="0"/>
</p:sldLayout>
</file>

<file path=ppt/slideLayouts/slideLayout2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4630401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37" name="Rectangles"/>
          <p:cNvSpPr>
            <a:spLocks/>
          </p:cNvSpPr>
          <p:nvPr/>
        </p:nvSpPr>
        <p:spPr>
          <a:xfrm rot="0">
            <a:off x="0" y="0"/>
            <a:ext cx="14630401" cy="8229600"/>
          </a:xfrm>
          <a:prstGeom prst="rect"/>
          <a:solidFill>
            <a:srgbClr val="FFFDFA"/>
          </a:solidFill>
          <a:ln w="12700" cmpd="sng" cap="flat">
            <a:noFill/>
            <a:prstDash val="solid"/>
            <a:miter/>
          </a:ln>
        </p:spPr>
      </p:sp>
      <p:pic>
        <p:nvPicPr>
          <p:cNvPr id="138" name="Images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2839215" y="7749539"/>
            <a:ext cx="1722604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277313742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71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4.png"/><Relationship Id="rId2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6.png"/><Relationship Id="rId2" Type="http://schemas.openxmlformats.org/officeDocument/2006/relationships/image" Target="../media/7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8.png"/><Relationship Id="rId2" Type="http://schemas.openxmlformats.org/officeDocument/2006/relationships/image" Target="../media/8.png"/><Relationship Id="rId3" Type="http://schemas.openxmlformats.org/officeDocument/2006/relationships/image" Target="../media/8.png"/><Relationship Id="rId4" Type="http://schemas.openxmlformats.org/officeDocument/2006/relationships/image" Target="../media/8.png"/><Relationship Id="rId5" Type="http://schemas.openxmlformats.org/officeDocument/2006/relationships/image" Target="../media/8.png"/><Relationship Id="rId6" Type="http://schemas.openxmlformats.org/officeDocument/2006/relationships/slideLayout" Target="../slideLayouts/slideLayout16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9.png"/><Relationship Id="rId2" Type="http://schemas.openxmlformats.org/officeDocument/2006/relationships/image" Target="../media/10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1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12.png"/><Relationship Id="rId2" Type="http://schemas.openxmlformats.org/officeDocument/2006/relationships/image" Target="../media/13.png"/><Relationship Id="rId3" Type="http://schemas.openxmlformats.org/officeDocument/2006/relationships/slideLayout" Target="../slideLayouts/slideLayout20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14.jpg"/><Relationship Id="rId2" Type="http://schemas.openxmlformats.org/officeDocument/2006/relationships/slideLayout" Target="../slideLayouts/slideLayout2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heet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1237785" y="1721224"/>
          <a:ext cx="12021012" cy="6062328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3229762"/>
                <a:gridCol w="690854"/>
                <a:gridCol w="2003488"/>
                <a:gridCol w="1744408"/>
                <a:gridCol w="1571688"/>
                <a:gridCol w="1554454"/>
                <a:gridCol w="1226273"/>
              </a:tblGrid>
              <a:tr h="382661">
                <a:tc gridSpan="7"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Only for Course Teacher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</a:tr>
              <a:tr h="1032113">
                <a:tc gridSpan="2"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highlight>
                            <a:srgbClr val="FFFFFF"/>
                          </a:highlight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Needs Improvement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highlight>
                            <a:srgbClr val="FFFFFF"/>
                          </a:highlight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Developing 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highlight>
                            <a:srgbClr val="FFFFFF"/>
                          </a:highlight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Sufficient 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highlight>
                            <a:srgbClr val="FFFFFF"/>
                          </a:highlight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Above Average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highlight>
                            <a:srgbClr val="FFFFFF"/>
                          </a:highlight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Total Mark 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</a:tr>
              <a:tr h="422484">
                <a:tc gridSpan="2"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Allocate mark &amp; Percentage 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ctr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highlight>
                            <a:srgbClr val="FFFFFF"/>
                          </a:highlight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25%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ctr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highlight>
                            <a:srgbClr val="FFFFFF"/>
                          </a:highlight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50%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ctr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highlight>
                            <a:srgbClr val="FFFFFF"/>
                          </a:highlight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75%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ctr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highlight>
                            <a:srgbClr val="FFFFFF"/>
                          </a:highlight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100%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ctr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15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</a:tr>
              <a:tr h="422484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 pitchFamily="0" charset="0"/>
                          <a:cs typeface="Times New Roman" pitchFamily="18" charset="0"/>
                        </a:rPr>
                        <a:t>Level of Understanding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03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</a:tr>
              <a:tr h="4345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 pitchFamily="0" charset="0"/>
                          <a:cs typeface="Times New Roman" pitchFamily="18" charset="0"/>
                        </a:rPr>
                        <a:t>Analysis and Design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04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</a:tr>
              <a:tr h="45870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 pitchFamily="0" charset="0"/>
                          <a:cs typeface="Times New Roman" pitchFamily="18" charset="0"/>
                        </a:rPr>
                        <a:t>Demonstration 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03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</a:tr>
              <a:tr h="51303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Delivery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05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</a:tr>
              <a:tr h="513037">
                <a:tc gridSpan="6">
                  <a:txBody>
                    <a:bodyPr/>
                    <a:lstStyle/>
                    <a:p>
                      <a:pPr marL="0" indent="0" algn="r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Total obtained mark 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</a:tr>
              <a:tr h="188314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highlight>
                            <a:srgbClr val="FFFFFF"/>
                          </a:highlight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Comments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200" b="0" i="0" u="none" strike="noStrike" kern="100" cap="none" spc="0" baseline="0">
                          <a:highlight>
                            <a:srgbClr val="FFFFFF"/>
                          </a:highlight>
                          <a:solidFill>
                            <a:srgbClr val="000000"/>
                          </a:solidFill>
                          <a:latin typeface="Times New Roman" pitchFamily="18" charset="0"/>
                          <a:ea typeface="等线" pitchFamily="0" charset="0"/>
                          <a:cs typeface="Times New Roman" pitchFamily="18" charset="0"/>
                        </a:rPr>
                        <a:t> </a:t>
                      </a:r>
                      <a:endParaRPr lang="zh-CN" altLang="en-US" sz="1200" b="0" i="0" u="none" strike="noStrike" kern="10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Calibri" pitchFamily="0" charset="0"/>
                        <a:cs typeface="Times New Roman" pitchFamily="18" charset="0"/>
                      </a:endParaRPr>
                    </a:p>
                  </a:txBody>
                  <a:tcPr marL="68580" marT="0" marR="68580" marB="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T="0" marR="68580" marB="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</a:tr>
            </a:tbl>
          </a:graphicData>
        </a:graphic>
      </p:graphicFrame>
      <p:pic>
        <p:nvPicPr>
          <p:cNvPr id="3" name="Images"/>
          <p:cNvPicPr>
            <a:picLocks noChangeAspect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0">
            <a:off x="4656753" y="151974"/>
            <a:ext cx="3863599" cy="10239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" name="Rectangles"/>
          <p:cNvSpPr>
            <a:spLocks/>
          </p:cNvSpPr>
          <p:nvPr/>
        </p:nvSpPr>
        <p:spPr>
          <a:xfrm rot="0">
            <a:off x="2881838" y="1228721"/>
            <a:ext cx="8125536" cy="3768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Final Presentation</a:t>
            </a: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Report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311902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s"/>
          <p:cNvSpPr>
            <a:spLocks/>
          </p:cNvSpPr>
          <p:nvPr/>
        </p:nvSpPr>
        <p:spPr>
          <a:xfrm rot="0">
            <a:off x="2234315" y="1041625"/>
            <a:ext cx="8560002" cy="6343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7030A0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Project Title</a:t>
            </a:r>
            <a:endParaRPr lang="zh-CN" altLang="en-US" sz="3600" b="1" i="0" u="none" strike="noStrike" kern="1200" cap="none" spc="0" baseline="0">
              <a:solidFill>
                <a:srgbClr val="7030A0"/>
              </a:solidFill>
              <a:latin typeface="Arial" pitchFamily="34" charset="0"/>
              <a:ea typeface="Arial" pitchFamily="34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9" name="Rectangles"/>
          <p:cNvSpPr>
            <a:spLocks/>
          </p:cNvSpPr>
          <p:nvPr/>
        </p:nvSpPr>
        <p:spPr>
          <a:xfrm rot="0">
            <a:off x="2981738" y="1859943"/>
            <a:ext cx="7703089" cy="6343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000000"/>
                </a:solidFill>
                <a:latin typeface="Anaheim" pitchFamily="0" charset="0"/>
                <a:ea typeface="Anaheim" pitchFamily="0" charset="0"/>
                <a:cs typeface="Anaheim" pitchFamily="0" charset="0"/>
                <a:sym typeface="Anaheim" pitchFamily="0" charset="0"/>
              </a:rPr>
              <a:t>Developed By Group No : 07</a:t>
            </a:r>
            <a:endParaRPr lang="zh-CN" altLang="en-US" sz="3600" b="1" i="0" u="none" strike="noStrike" kern="1200" cap="none" spc="0" baseline="0">
              <a:solidFill>
                <a:srgbClr val="FF0000"/>
              </a:solidFill>
              <a:latin typeface="Anaheim" pitchFamily="0" charset="0"/>
              <a:ea typeface="Anaheim" pitchFamily="0" charset="0"/>
              <a:cs typeface="Anaheim" pitchFamily="0" charset="0"/>
              <a:sym typeface="Anaheim" pitchFamily="0" charset="0"/>
            </a:endParaRPr>
          </a:p>
        </p:txBody>
      </p:sp>
      <p:sp>
        <p:nvSpPr>
          <p:cNvPr id="10" name="Rectangles"/>
          <p:cNvSpPr>
            <a:spLocks/>
          </p:cNvSpPr>
          <p:nvPr/>
        </p:nvSpPr>
        <p:spPr>
          <a:xfrm flipH="1" rot="0">
            <a:off x="2106704" y="4071670"/>
            <a:ext cx="10226544" cy="22345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Semester: Summer  2025</a:t>
            </a:r>
            <a:endParaRPr lang="en-US" altLang="zh-CN" sz="2800" b="0" i="0" u="none" strike="noStrike" kern="1200" cap="none" spc="0" baseline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  <a:sym typeface="Arial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Course Title: Software Development Capstone Project</a:t>
            </a:r>
            <a:endParaRPr lang="en-US" altLang="zh-CN" sz="2800" b="0" i="0" u="none" strike="noStrike" kern="1200" cap="none" spc="0" baseline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  <a:sym typeface="Arial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Course </a:t>
            </a: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Code: SE 133</a:t>
            </a:r>
            <a:endParaRPr lang="en-US" altLang="zh-CN" sz="2800" b="0" i="0" u="none" strike="noStrike" kern="1200" cap="none" spc="0" baseline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  <a:sym typeface="Arial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Batc</a:t>
            </a: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h: 43</a:t>
            </a:r>
            <a:endParaRPr lang="en-US" altLang="zh-CN" sz="2800" b="0" i="0" u="none" strike="noStrike" kern="1200" cap="none" spc="0" baseline="0">
              <a:solidFill>
                <a:srgbClr val="00000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</a:t>
            </a: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ection : H2</a:t>
            </a:r>
            <a:endParaRPr lang="zh-CN" altLang="en-US" sz="2800" b="0" i="0" u="none" strike="noStrike" kern="1200" cap="none" spc="0" baseline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  <a:sym typeface="Arial" pitchFamily="34" charset="0"/>
            </a:endParaRPr>
          </a:p>
        </p:txBody>
      </p:sp>
      <p:pic>
        <p:nvPicPr>
          <p:cNvPr id="11" name="Images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1646405" y="5195034"/>
            <a:ext cx="4399192" cy="3680599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422243602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"/>
          <p:cNvSpPr>
            <a:spLocks/>
          </p:cNvSpPr>
          <p:nvPr/>
        </p:nvSpPr>
        <p:spPr>
          <a:xfrm flipH="1" rot="0">
            <a:off x="3546565" y="731519"/>
            <a:ext cx="5849983" cy="6914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#Group Member’s </a:t>
            </a:r>
            <a:endParaRPr lang="zh-CN" altLang="en-US" sz="4000" b="0" i="0" u="none" strike="noStrike" kern="1200" cap="none" spc="0" baseline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  <a:sym typeface="Arial" pitchFamily="34" charset="0"/>
            </a:endParaRPr>
          </a:p>
        </p:txBody>
      </p:sp>
      <p:graphicFrame>
        <p:nvGraphicFramePr>
          <p:cNvPr id="13" name="Sheet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2717180" y="2933404"/>
          <a:ext cx="9753600" cy="320040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4876787"/>
                <a:gridCol w="4876787"/>
              </a:tblGrid>
              <a:tr h="370831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36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Name </a:t>
                      </a:r>
                      <a:endParaRPr lang="zh-CN" altLang="en-US" sz="3600" b="1" i="0" u="none" strike="noStrike" kern="1200" cap="none" spc="0" baseline="0">
                        <a:solidFill>
                          <a:srgbClr val="FFFFFF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36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Student ID</a:t>
                      </a:r>
                      <a:endParaRPr lang="zh-CN" altLang="en-US" sz="3600" b="1" i="0" u="none" strike="noStrike" kern="1200" cap="none" spc="0" baseline="0">
                        <a:solidFill>
                          <a:srgbClr val="FFFFFF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70831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36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Mohammad Ali Nayeem </a:t>
                      </a:r>
                      <a:endParaRPr lang="zh-CN" altLang="en-US" sz="3600" b="0" i="0" u="none" strike="noStrike" kern="1200" cap="none" spc="0" baseline="0">
                        <a:solidFill>
                          <a:srgbClr val="000000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36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232-35-022 </a:t>
                      </a:r>
                      <a:endParaRPr lang="zh-CN" altLang="en-US" sz="3600" b="0" i="0" u="none" strike="noStrike" kern="1200" cap="none" spc="0" baseline="0">
                        <a:solidFill>
                          <a:srgbClr val="000000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</a:tr>
              <a:tr h="370831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36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Emtiaz</a:t>
                      </a:r>
                      <a:r>
                        <a:rPr lang="en-US" altLang="zh-CN" sz="36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 Hossain </a:t>
                      </a:r>
                      <a:endParaRPr lang="zh-CN" altLang="en-US" sz="3600" b="0" i="0" u="none" strike="noStrike" kern="1200" cap="none" spc="0" baseline="0">
                        <a:solidFill>
                          <a:srgbClr val="000000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36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242-35-744</a:t>
                      </a:r>
                      <a:endParaRPr lang="zh-CN" altLang="en-US" sz="3600" b="0" i="0" u="none" strike="noStrike" kern="1200" cap="none" spc="0" baseline="0">
                        <a:solidFill>
                          <a:srgbClr val="000000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</a:tr>
              <a:tr h="370831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36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Arpita </a:t>
                      </a:r>
                      <a:r>
                        <a:rPr lang="en-US" altLang="zh-CN" sz="36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Barmon</a:t>
                      </a:r>
                      <a:r>
                        <a:rPr lang="en-US" altLang="zh-CN" sz="36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 </a:t>
                      </a:r>
                      <a:endParaRPr lang="zh-CN" altLang="en-US" sz="3600" b="0" i="0" u="none" strike="noStrike" kern="1200" cap="none" spc="0" baseline="0">
                        <a:solidFill>
                          <a:srgbClr val="000000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36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242-35-794</a:t>
                      </a:r>
                      <a:endParaRPr lang="zh-CN" altLang="en-US" sz="3600" b="0" i="0" u="none" strike="noStrike" kern="1200" cap="none" spc="0" baseline="0">
                        <a:solidFill>
                          <a:srgbClr val="000000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ED4EA"/>
                    </a:solidFill>
                  </a:tcPr>
                </a:tc>
              </a:tr>
              <a:tr h="370831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36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Jahid Hossain</a:t>
                      </a:r>
                      <a:endParaRPr lang="zh-CN" altLang="en-US" sz="3600" b="0" i="0" u="none" strike="noStrike" kern="1200" cap="none" spc="0" baseline="0">
                        <a:solidFill>
                          <a:srgbClr val="000000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36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242-35-142</a:t>
                      </a:r>
                      <a:endParaRPr lang="zh-CN" altLang="en-US" sz="3600" b="0" i="0" u="none" strike="noStrike" kern="1200" cap="none" spc="0" baseline="0">
                        <a:solidFill>
                          <a:srgbClr val="000000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473532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144000" y="0"/>
            <a:ext cx="5486400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5" name="Rectangles"/>
          <p:cNvSpPr>
            <a:spLocks/>
          </p:cNvSpPr>
          <p:nvPr/>
        </p:nvSpPr>
        <p:spPr>
          <a:xfrm rot="0">
            <a:off x="793790" y="3054429"/>
            <a:ext cx="7556420" cy="141755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Hostel Management System</a:t>
            </a:r>
            <a:endParaRPr lang="zh-CN" altLang="en-US" sz="4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" name="Rectangles"/>
          <p:cNvSpPr>
            <a:spLocks/>
          </p:cNvSpPr>
          <p:nvPr/>
        </p:nvSpPr>
        <p:spPr>
          <a:xfrm rot="0">
            <a:off x="793790" y="4812149"/>
            <a:ext cx="7556420" cy="3629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A Capstone Project Report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932996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s"/>
          <p:cNvSpPr>
            <a:spLocks/>
          </p:cNvSpPr>
          <p:nvPr/>
        </p:nvSpPr>
        <p:spPr>
          <a:xfrm rot="0">
            <a:off x="519113" y="407789"/>
            <a:ext cx="1853922" cy="2316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Introduction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" name="Rectangles"/>
          <p:cNvSpPr>
            <a:spLocks/>
          </p:cNvSpPr>
          <p:nvPr/>
        </p:nvSpPr>
        <p:spPr>
          <a:xfrm rot="0">
            <a:off x="4031747" y="702373"/>
            <a:ext cx="5116948" cy="6396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ctr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Project Team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" name="Rectangles"/>
          <p:cNvSpPr>
            <a:spLocks/>
          </p:cNvSpPr>
          <p:nvPr/>
        </p:nvSpPr>
        <p:spPr>
          <a:xfrm rot="0">
            <a:off x="519113" y="2609701"/>
            <a:ext cx="1853922" cy="2316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Members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" name="Rectangles"/>
          <p:cNvSpPr>
            <a:spLocks/>
          </p:cNvSpPr>
          <p:nvPr/>
        </p:nvSpPr>
        <p:spPr>
          <a:xfrm rot="0">
            <a:off x="519113" y="3513386"/>
            <a:ext cx="6615232" cy="23729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Mohammad Ali Nayeem (232-35-022)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" name="Rectangles"/>
          <p:cNvSpPr>
            <a:spLocks/>
          </p:cNvSpPr>
          <p:nvPr/>
        </p:nvSpPr>
        <p:spPr>
          <a:xfrm rot="0">
            <a:off x="519113" y="3901756"/>
            <a:ext cx="6615232" cy="23729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Emtiaz Hossain (242-35-744)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Rectangles"/>
          <p:cNvSpPr>
            <a:spLocks/>
          </p:cNvSpPr>
          <p:nvPr/>
        </p:nvSpPr>
        <p:spPr>
          <a:xfrm rot="0">
            <a:off x="519113" y="4298633"/>
            <a:ext cx="6615232" cy="23729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Arpita Barmon (242-35-794)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Rectangles"/>
          <p:cNvSpPr>
            <a:spLocks/>
          </p:cNvSpPr>
          <p:nvPr/>
        </p:nvSpPr>
        <p:spPr>
          <a:xfrm rot="0">
            <a:off x="519113" y="4695510"/>
            <a:ext cx="6615232" cy="23729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Jahid Hossain (242-35-142)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" name="Rectangles"/>
          <p:cNvSpPr>
            <a:spLocks/>
          </p:cNvSpPr>
          <p:nvPr/>
        </p:nvSpPr>
        <p:spPr>
          <a:xfrm rot="0">
            <a:off x="7693247" y="2127360"/>
            <a:ext cx="1853921" cy="2316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Supervisor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" name="Rectangles"/>
          <p:cNvSpPr>
            <a:spLocks/>
          </p:cNvSpPr>
          <p:nvPr/>
        </p:nvSpPr>
        <p:spPr>
          <a:xfrm rot="0">
            <a:off x="8484983" y="2579280"/>
            <a:ext cx="6615233" cy="23729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Sumona Afroz, Lecturer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32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015167" y="3593228"/>
            <a:ext cx="6615233" cy="4636372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3" name="Image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7496057" y="3448198"/>
            <a:ext cx="7172102" cy="4781401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66907666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s"/>
          <p:cNvSpPr>
            <a:spLocks/>
          </p:cNvSpPr>
          <p:nvPr/>
        </p:nvSpPr>
        <p:spPr>
          <a:xfrm rot="0">
            <a:off x="793790" y="2322433"/>
            <a:ext cx="2835235" cy="354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Introduction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" name="Rectangles"/>
          <p:cNvSpPr>
            <a:spLocks/>
          </p:cNvSpPr>
          <p:nvPr/>
        </p:nvSpPr>
        <p:spPr>
          <a:xfrm rot="0">
            <a:off x="793790" y="2903577"/>
            <a:ext cx="7825502" cy="97821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1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Project Overview</a:t>
            </a:r>
            <a:endParaRPr lang="zh-CN" altLang="en-US" sz="6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" name="Rounded rectangle"/>
          <p:cNvSpPr>
            <a:spLocks/>
          </p:cNvSpPr>
          <p:nvPr/>
        </p:nvSpPr>
        <p:spPr>
          <a:xfrm rot="0">
            <a:off x="793790" y="4221956"/>
            <a:ext cx="4196358" cy="1685092"/>
          </a:xfrm>
          <a:prstGeom prst="roundRect">
            <a:avLst>
              <a:gd name="adj" fmla="val 5652"/>
            </a:avLst>
          </a:prstGeom>
          <a:solidFill>
            <a:srgbClr val="F7EDD4"/>
          </a:solidFill>
          <a:ln w="7620" cmpd="sng" cap="flat">
            <a:solidFill>
              <a:srgbClr val="DDD3BA"/>
            </a:solidFill>
            <a:prstDash val="solid"/>
            <a:round/>
          </a:ln>
        </p:spPr>
      </p:sp>
      <p:sp>
        <p:nvSpPr>
          <p:cNvPr id="43" name="Rectangles"/>
          <p:cNvSpPr>
            <a:spLocks/>
          </p:cNvSpPr>
          <p:nvPr/>
        </p:nvSpPr>
        <p:spPr>
          <a:xfrm rot="0">
            <a:off x="1028224" y="4456390"/>
            <a:ext cx="2835235" cy="354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454240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Problem Statement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" name="Rectangles"/>
          <p:cNvSpPr>
            <a:spLocks/>
          </p:cNvSpPr>
          <p:nvPr/>
        </p:nvSpPr>
        <p:spPr>
          <a:xfrm rot="0">
            <a:off x="1028224" y="4946809"/>
            <a:ext cx="3727490" cy="7258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Manual hostel operations are inefficient and error-prone.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" name="Rounded rectangle"/>
          <p:cNvSpPr>
            <a:spLocks/>
          </p:cNvSpPr>
          <p:nvPr/>
        </p:nvSpPr>
        <p:spPr>
          <a:xfrm rot="0">
            <a:off x="5216962" y="4221956"/>
            <a:ext cx="4196358" cy="1685092"/>
          </a:xfrm>
          <a:prstGeom prst="roundRect">
            <a:avLst>
              <a:gd name="adj" fmla="val 5652"/>
            </a:avLst>
          </a:prstGeom>
          <a:solidFill>
            <a:srgbClr val="F7EDD4"/>
          </a:solidFill>
          <a:ln w="7620" cmpd="sng" cap="flat">
            <a:solidFill>
              <a:srgbClr val="DDD3BA"/>
            </a:solidFill>
            <a:prstDash val="solid"/>
            <a:round/>
          </a:ln>
        </p:spPr>
      </p:sp>
      <p:sp>
        <p:nvSpPr>
          <p:cNvPr id="46" name="Rectangles"/>
          <p:cNvSpPr>
            <a:spLocks/>
          </p:cNvSpPr>
          <p:nvPr/>
        </p:nvSpPr>
        <p:spPr>
          <a:xfrm rot="0">
            <a:off x="5451396" y="4456390"/>
            <a:ext cx="2835235" cy="354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454240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Motivation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" name="Rectangles"/>
          <p:cNvSpPr>
            <a:spLocks/>
          </p:cNvSpPr>
          <p:nvPr/>
        </p:nvSpPr>
        <p:spPr>
          <a:xfrm rot="0">
            <a:off x="5451396" y="4946809"/>
            <a:ext cx="3727490" cy="7258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Automate tasks, improve accuracy, enhance user experience.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" name="Rounded rectangle"/>
          <p:cNvSpPr>
            <a:spLocks/>
          </p:cNvSpPr>
          <p:nvPr/>
        </p:nvSpPr>
        <p:spPr>
          <a:xfrm rot="0">
            <a:off x="9640133" y="4221956"/>
            <a:ext cx="4196358" cy="1685092"/>
          </a:xfrm>
          <a:prstGeom prst="roundRect">
            <a:avLst>
              <a:gd name="adj" fmla="val 5652"/>
            </a:avLst>
          </a:prstGeom>
          <a:solidFill>
            <a:srgbClr val="F7EDD4"/>
          </a:solidFill>
          <a:ln w="7620" cmpd="sng" cap="flat">
            <a:solidFill>
              <a:srgbClr val="DDD3BA"/>
            </a:solidFill>
            <a:prstDash val="solid"/>
            <a:round/>
          </a:ln>
        </p:spPr>
      </p:sp>
      <p:sp>
        <p:nvSpPr>
          <p:cNvPr id="49" name="Rectangles"/>
          <p:cNvSpPr>
            <a:spLocks/>
          </p:cNvSpPr>
          <p:nvPr/>
        </p:nvSpPr>
        <p:spPr>
          <a:xfrm rot="0">
            <a:off x="9874568" y="4456390"/>
            <a:ext cx="2835235" cy="354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454240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Objectives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" name="Rectangles"/>
          <p:cNvSpPr>
            <a:spLocks/>
          </p:cNvSpPr>
          <p:nvPr/>
        </p:nvSpPr>
        <p:spPr>
          <a:xfrm rot="0">
            <a:off x="9874568" y="4946809"/>
            <a:ext cx="3727490" cy="7258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Develop a reliable, user-friendly management system.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437010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s"/>
          <p:cNvSpPr>
            <a:spLocks/>
          </p:cNvSpPr>
          <p:nvPr/>
        </p:nvSpPr>
        <p:spPr>
          <a:xfrm rot="0">
            <a:off x="601623" y="472797"/>
            <a:ext cx="2148840" cy="2686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Methodology</a:t>
            </a:r>
            <a:endParaRPr lang="zh-CN" altLang="en-US" sz="16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" name="Rectangles"/>
          <p:cNvSpPr>
            <a:spLocks/>
          </p:cNvSpPr>
          <p:nvPr/>
        </p:nvSpPr>
        <p:spPr>
          <a:xfrm rot="0">
            <a:off x="601623" y="913208"/>
            <a:ext cx="6139338" cy="74128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6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System Architecture</a:t>
            </a:r>
            <a:endParaRPr lang="zh-CN" altLang="en-US" sz="46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59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01623" y="1912263"/>
            <a:ext cx="515660" cy="11430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0" name="Rectangles"/>
          <p:cNvSpPr>
            <a:spLocks/>
          </p:cNvSpPr>
          <p:nvPr/>
        </p:nvSpPr>
        <p:spPr>
          <a:xfrm rot="0">
            <a:off x="1289090" y="2084070"/>
            <a:ext cx="2148840" cy="26860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0" baseline="0">
                <a:solidFill>
                  <a:srgbClr val="454240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Planning</a:t>
            </a:r>
            <a:endParaRPr lang="zh-CN" altLang="en-US" sz="16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" name="Rectangles"/>
          <p:cNvSpPr>
            <a:spLocks/>
          </p:cNvSpPr>
          <p:nvPr/>
        </p:nvSpPr>
        <p:spPr>
          <a:xfrm rot="0">
            <a:off x="1289090" y="2455783"/>
            <a:ext cx="12739688" cy="27503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Define requirements, scope, and objectives.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62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859393" y="3115508"/>
            <a:ext cx="515660" cy="11430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3" name="Rectangles"/>
          <p:cNvSpPr>
            <a:spLocks/>
          </p:cNvSpPr>
          <p:nvPr/>
        </p:nvSpPr>
        <p:spPr>
          <a:xfrm rot="0">
            <a:off x="1546860" y="3287315"/>
            <a:ext cx="2148840" cy="2686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0" baseline="0">
                <a:solidFill>
                  <a:srgbClr val="454240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Design</a:t>
            </a:r>
            <a:endParaRPr lang="zh-CN" altLang="en-US" sz="16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" name="Rectangles"/>
          <p:cNvSpPr>
            <a:spLocks/>
          </p:cNvSpPr>
          <p:nvPr/>
        </p:nvSpPr>
        <p:spPr>
          <a:xfrm rot="0">
            <a:off x="1546860" y="3659029"/>
            <a:ext cx="12481917" cy="27503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Develop system diagrams and database schema.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65" name="Images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1117283" y="4318754"/>
            <a:ext cx="515660" cy="11430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6" name="Rectangles"/>
          <p:cNvSpPr>
            <a:spLocks/>
          </p:cNvSpPr>
          <p:nvPr/>
        </p:nvSpPr>
        <p:spPr>
          <a:xfrm rot="0">
            <a:off x="1804749" y="4490561"/>
            <a:ext cx="2148840" cy="2686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0" baseline="0">
                <a:solidFill>
                  <a:srgbClr val="454240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Development</a:t>
            </a:r>
            <a:endParaRPr lang="zh-CN" altLang="en-US" sz="16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" name="Rectangles"/>
          <p:cNvSpPr>
            <a:spLocks/>
          </p:cNvSpPr>
          <p:nvPr/>
        </p:nvSpPr>
        <p:spPr>
          <a:xfrm rot="0">
            <a:off x="1804749" y="4862274"/>
            <a:ext cx="12224028" cy="2750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Code and implement system features.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68" name="Images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375172" y="5522000"/>
            <a:ext cx="515659" cy="11430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9" name="Rectangles"/>
          <p:cNvSpPr>
            <a:spLocks/>
          </p:cNvSpPr>
          <p:nvPr/>
        </p:nvSpPr>
        <p:spPr>
          <a:xfrm rot="0">
            <a:off x="2062639" y="5693807"/>
            <a:ext cx="2148840" cy="2686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0" baseline="0">
                <a:solidFill>
                  <a:srgbClr val="454240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Testing</a:t>
            </a:r>
            <a:endParaRPr lang="zh-CN" altLang="en-US" sz="16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" name="Rectangles"/>
          <p:cNvSpPr>
            <a:spLocks/>
          </p:cNvSpPr>
          <p:nvPr/>
        </p:nvSpPr>
        <p:spPr>
          <a:xfrm rot="0">
            <a:off x="2062639" y="6065520"/>
            <a:ext cx="11966138" cy="2750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Validate functionality and fix bugs.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71" name="Images" descr="preencoded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1117283" y="6725245"/>
            <a:ext cx="515660" cy="11430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72" name="Rectangles"/>
          <p:cNvSpPr>
            <a:spLocks/>
          </p:cNvSpPr>
          <p:nvPr/>
        </p:nvSpPr>
        <p:spPr>
          <a:xfrm rot="0">
            <a:off x="1804749" y="6897051"/>
            <a:ext cx="2148840" cy="2686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0" baseline="0">
                <a:solidFill>
                  <a:srgbClr val="454240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Deployment</a:t>
            </a:r>
            <a:endParaRPr lang="zh-CN" altLang="en-US" sz="16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" name="Rectangles"/>
          <p:cNvSpPr>
            <a:spLocks/>
          </p:cNvSpPr>
          <p:nvPr/>
        </p:nvSpPr>
        <p:spPr>
          <a:xfrm rot="0">
            <a:off x="1804749" y="7268766"/>
            <a:ext cx="12224028" cy="2750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Launch and monitor system performance.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045185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s"/>
          <p:cNvSpPr>
            <a:spLocks/>
          </p:cNvSpPr>
          <p:nvPr/>
        </p:nvSpPr>
        <p:spPr>
          <a:xfrm rot="0">
            <a:off x="520422" y="408980"/>
            <a:ext cx="1858923" cy="2322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Methodology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" name="Rectangles"/>
          <p:cNvSpPr>
            <a:spLocks/>
          </p:cNvSpPr>
          <p:nvPr/>
        </p:nvSpPr>
        <p:spPr>
          <a:xfrm rot="0">
            <a:off x="520422" y="789980"/>
            <a:ext cx="5130760" cy="64127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Key Diagrams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" name="Rectangles"/>
          <p:cNvSpPr>
            <a:spLocks/>
          </p:cNvSpPr>
          <p:nvPr/>
        </p:nvSpPr>
        <p:spPr>
          <a:xfrm rot="0">
            <a:off x="520422" y="1802963"/>
            <a:ext cx="1858923" cy="23229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Workflow Diagram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3" name="Rectangles"/>
          <p:cNvSpPr>
            <a:spLocks/>
          </p:cNvSpPr>
          <p:nvPr/>
        </p:nvSpPr>
        <p:spPr>
          <a:xfrm rot="0">
            <a:off x="520422" y="8983266"/>
            <a:ext cx="6613446" cy="2378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Visualizes system flow.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4" name="Rectangles"/>
          <p:cNvSpPr>
            <a:spLocks/>
          </p:cNvSpPr>
          <p:nvPr/>
        </p:nvSpPr>
        <p:spPr>
          <a:xfrm rot="0">
            <a:off x="7504151" y="1802963"/>
            <a:ext cx="1858922" cy="23229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Data Flow Diagram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5" name="Rectangles"/>
          <p:cNvSpPr>
            <a:spLocks/>
          </p:cNvSpPr>
          <p:nvPr/>
        </p:nvSpPr>
        <p:spPr>
          <a:xfrm rot="0">
            <a:off x="7504151" y="8983266"/>
            <a:ext cx="6613446" cy="2378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Illustrates data movement.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86" name="Images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373565" y="2504564"/>
            <a:ext cx="5653668" cy="3769112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87" name="Image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916517" y="2641521"/>
            <a:ext cx="5981818" cy="3987879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111980485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5486400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5" name="Rectangles"/>
          <p:cNvSpPr>
            <a:spLocks/>
          </p:cNvSpPr>
          <p:nvPr/>
        </p:nvSpPr>
        <p:spPr>
          <a:xfrm rot="0">
            <a:off x="6280189" y="2983587"/>
            <a:ext cx="2835235" cy="354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Methodology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6" name="Rectangles"/>
          <p:cNvSpPr>
            <a:spLocks/>
          </p:cNvSpPr>
          <p:nvPr/>
        </p:nvSpPr>
        <p:spPr>
          <a:xfrm rot="0">
            <a:off x="6280189" y="3564731"/>
            <a:ext cx="7556420" cy="97821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1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User Interactions</a:t>
            </a:r>
            <a:endParaRPr lang="zh-CN" altLang="en-US" sz="6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7" name="Rectangles"/>
          <p:cNvSpPr>
            <a:spLocks/>
          </p:cNvSpPr>
          <p:nvPr/>
        </p:nvSpPr>
        <p:spPr>
          <a:xfrm rot="0">
            <a:off x="6280189" y="4883110"/>
            <a:ext cx="7556420" cy="3629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The Use Case Diagram highlights user roles and system functionalities.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917940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s"/>
          <p:cNvSpPr>
            <a:spLocks/>
          </p:cNvSpPr>
          <p:nvPr/>
        </p:nvSpPr>
        <p:spPr>
          <a:xfrm rot="0">
            <a:off x="793790" y="2320290"/>
            <a:ext cx="2993588" cy="354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Results &amp; Discussion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5" name="Rectangles"/>
          <p:cNvSpPr>
            <a:spLocks/>
          </p:cNvSpPr>
          <p:nvPr/>
        </p:nvSpPr>
        <p:spPr>
          <a:xfrm rot="0">
            <a:off x="793790" y="2901434"/>
            <a:ext cx="8512612" cy="97821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1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System Functionality</a:t>
            </a:r>
            <a:endParaRPr lang="zh-CN" altLang="en-US" sz="6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6" name="Rectangles"/>
          <p:cNvSpPr>
            <a:spLocks/>
          </p:cNvSpPr>
          <p:nvPr/>
        </p:nvSpPr>
        <p:spPr>
          <a:xfrm rot="0">
            <a:off x="793790" y="4219813"/>
            <a:ext cx="13042820" cy="3629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Smooth Operations: Handles booking, check-in/out, and payments automatically.</a:t>
            </a:r>
            <a:endParaRPr lang="zh-CN" altLang="en-US" sz="20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7" name="Rectangles"/>
          <p:cNvSpPr>
            <a:spLocks/>
          </p:cNvSpPr>
          <p:nvPr/>
        </p:nvSpPr>
        <p:spPr>
          <a:xfrm rot="0">
            <a:off x="793790" y="4662011"/>
            <a:ext cx="13042820" cy="3629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Better Efficiency: Cuts down mistakes and saves time.</a:t>
            </a:r>
            <a:endParaRPr lang="zh-CN" altLang="en-US" sz="20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8" name="Rectangles"/>
          <p:cNvSpPr>
            <a:spLocks/>
          </p:cNvSpPr>
          <p:nvPr/>
        </p:nvSpPr>
        <p:spPr>
          <a:xfrm rot="0">
            <a:off x="793790" y="5104209"/>
            <a:ext cx="13042820" cy="3629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Better Data Handling: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Keeps records safe and in one place.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9" name="Rectangles"/>
          <p:cNvSpPr>
            <a:spLocks/>
          </p:cNvSpPr>
          <p:nvPr/>
        </p:nvSpPr>
        <p:spPr>
          <a:xfrm rot="0">
            <a:off x="793790" y="5546408"/>
            <a:ext cx="13042820" cy="3629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Easy to Use: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Simple design for staff and guests.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359256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s"/>
          <p:cNvSpPr>
            <a:spLocks/>
          </p:cNvSpPr>
          <p:nvPr/>
        </p:nvSpPr>
        <p:spPr>
          <a:xfrm rot="0">
            <a:off x="2965457" y="144701"/>
            <a:ext cx="2993588" cy="354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Results &amp; Discussion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8" name="Rectangles"/>
          <p:cNvSpPr>
            <a:spLocks/>
          </p:cNvSpPr>
          <p:nvPr/>
        </p:nvSpPr>
        <p:spPr>
          <a:xfrm rot="0">
            <a:off x="241348" y="497248"/>
            <a:ext cx="6521297" cy="14629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1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System Snapshot</a:t>
            </a:r>
            <a:endParaRPr lang="zh-CN" altLang="en-US" sz="6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9" name="Rectangles"/>
          <p:cNvSpPr>
            <a:spLocks/>
          </p:cNvSpPr>
          <p:nvPr/>
        </p:nvSpPr>
        <p:spPr>
          <a:xfrm rot="0">
            <a:off x="241348" y="1958500"/>
            <a:ext cx="4446406" cy="14629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This snapshot displays the clean and intuitive user interface, designed for ease of use in daily operations.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151" name="Images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749376" y="4109975"/>
            <a:ext cx="6013270" cy="3108216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53" name="Image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7315088" y="1681136"/>
            <a:ext cx="6711921" cy="4873367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046657886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s"/>
          <p:cNvSpPr>
            <a:spLocks/>
          </p:cNvSpPr>
          <p:nvPr/>
        </p:nvSpPr>
        <p:spPr>
          <a:xfrm rot="0">
            <a:off x="793790" y="1661160"/>
            <a:ext cx="2835235" cy="354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Conclusion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7" name="Rectangles"/>
          <p:cNvSpPr>
            <a:spLocks/>
          </p:cNvSpPr>
          <p:nvPr/>
        </p:nvSpPr>
        <p:spPr>
          <a:xfrm rot="0">
            <a:off x="793790" y="2242304"/>
            <a:ext cx="7825502" cy="97821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1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Project Summary</a:t>
            </a:r>
            <a:endParaRPr lang="zh-CN" altLang="en-US" sz="6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8" name="Rectangles"/>
          <p:cNvSpPr>
            <a:spLocks/>
          </p:cNvSpPr>
          <p:nvPr/>
        </p:nvSpPr>
        <p:spPr>
          <a:xfrm rot="0">
            <a:off x="793790" y="3560683"/>
            <a:ext cx="13042820" cy="7258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The Hostel Management System successfully addresses key challenges in hostel administration, providing a robust and efficient solution.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9" name="Rectangles"/>
          <p:cNvSpPr>
            <a:spLocks/>
          </p:cNvSpPr>
          <p:nvPr/>
        </p:nvSpPr>
        <p:spPr>
          <a:xfrm rot="0">
            <a:off x="793790" y="4626650"/>
            <a:ext cx="2835235" cy="354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Future Work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0" name="Rectangles"/>
          <p:cNvSpPr>
            <a:spLocks/>
          </p:cNvSpPr>
          <p:nvPr/>
        </p:nvSpPr>
        <p:spPr>
          <a:xfrm rot="0">
            <a:off x="793790" y="5321141"/>
            <a:ext cx="13042820" cy="3629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7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Mobile application development.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1" name="Rectangles"/>
          <p:cNvSpPr>
            <a:spLocks/>
          </p:cNvSpPr>
          <p:nvPr/>
        </p:nvSpPr>
        <p:spPr>
          <a:xfrm rot="0">
            <a:off x="793790" y="5763339"/>
            <a:ext cx="13042820" cy="3629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7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Integration with payment gateways.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2" name="Rectangles"/>
          <p:cNvSpPr>
            <a:spLocks/>
          </p:cNvSpPr>
          <p:nvPr/>
        </p:nvSpPr>
        <p:spPr>
          <a:xfrm rot="0">
            <a:off x="793790" y="6205538"/>
            <a:ext cx="13042820" cy="3629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7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Advanced analytics and reporting features.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271595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s"/>
          <p:cNvSpPr>
            <a:spLocks/>
          </p:cNvSpPr>
          <p:nvPr/>
        </p:nvSpPr>
        <p:spPr>
          <a:xfrm rot="0">
            <a:off x="793790" y="1801297"/>
            <a:ext cx="2835235" cy="354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Conclusion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0" name="Rectangles"/>
          <p:cNvSpPr>
            <a:spLocks/>
          </p:cNvSpPr>
          <p:nvPr/>
        </p:nvSpPr>
        <p:spPr>
          <a:xfrm rot="0">
            <a:off x="793790" y="2382441"/>
            <a:ext cx="7825502" cy="97821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150" b="0" i="0" u="none" strike="noStrike" kern="1200" cap="none" spc="0" baseline="0">
                <a:solidFill>
                  <a:srgbClr val="5C4E3D"/>
                </a:solidFill>
                <a:latin typeface="Libre Baskerville" pitchFamily="34" charset="0"/>
                <a:ea typeface="Libre Baskerville" pitchFamily="34" charset="0"/>
                <a:cs typeface="Libre Baskerville" pitchFamily="34" charset="0"/>
              </a:rPr>
              <a:t>References</a:t>
            </a:r>
            <a:endParaRPr lang="zh-CN" altLang="en-US" sz="6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1" name="Rectangles"/>
          <p:cNvSpPr>
            <a:spLocks/>
          </p:cNvSpPr>
          <p:nvPr/>
        </p:nvSpPr>
        <p:spPr>
          <a:xfrm rot="0">
            <a:off x="1133951" y="3955971"/>
            <a:ext cx="12702659" cy="3629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GitHub Repo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: https: //github.com/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kazinayeem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/hostel-management-capstone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2" name="Rectangles"/>
          <p:cNvSpPr>
            <a:spLocks/>
          </p:cNvSpPr>
          <p:nvPr/>
        </p:nvSpPr>
        <p:spPr>
          <a:xfrm rot="0">
            <a:off x="1133951" y="4574024"/>
            <a:ext cx="12702659" cy="3629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W3Schools: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https://www.w3schools.com/c/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3" name="Rectangles"/>
          <p:cNvSpPr>
            <a:spLocks/>
          </p:cNvSpPr>
          <p:nvPr/>
        </p:nvSpPr>
        <p:spPr>
          <a:xfrm rot="0">
            <a:off x="1163929" y="5540750"/>
            <a:ext cx="12702659" cy="3629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ResearchGate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: https://www.researchgate.net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4" name="Rectangles"/>
          <p:cNvSpPr>
            <a:spLocks/>
          </p:cNvSpPr>
          <p:nvPr/>
        </p:nvSpPr>
        <p:spPr>
          <a:xfrm rot="0">
            <a:off x="793790" y="3700820"/>
            <a:ext cx="30480" cy="2109311"/>
          </a:xfrm>
          <a:prstGeom prst="rect"/>
          <a:solidFill>
            <a:srgbClr val="B88E23"/>
          </a:solidFill>
          <a:ln w="12700" cmpd="sng" cap="flat">
            <a:noFill/>
            <a:prstDash val="solid"/>
            <a:miter/>
          </a:ln>
        </p:spPr>
      </p:sp>
      <p:sp>
        <p:nvSpPr>
          <p:cNvPr id="145" name="Rectangles"/>
          <p:cNvSpPr>
            <a:spLocks/>
          </p:cNvSpPr>
          <p:nvPr/>
        </p:nvSpPr>
        <p:spPr>
          <a:xfrm rot="0">
            <a:off x="793790" y="6065282"/>
            <a:ext cx="13042820" cy="3629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0" i="0" u="none" strike="noStrike" kern="1200" cap="none" spc="0" baseline="0">
                <a:solidFill>
                  <a:srgbClr val="454240"/>
                </a:solidFill>
                <a:latin typeface="DM Sans" pitchFamily="34" charset="0"/>
                <a:ea typeface="DM Sans" pitchFamily="34" charset="0"/>
                <a:cs typeface="DM Sans" pitchFamily="34" charset="0"/>
              </a:rPr>
              <a:t>Presented by the Hostel Management System Team.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6" name="Rectangles"/>
          <p:cNvSpPr>
            <a:spLocks/>
          </p:cNvSpPr>
          <p:nvPr/>
        </p:nvSpPr>
        <p:spPr>
          <a:xfrm rot="0">
            <a:off x="1133952" y="5057387"/>
            <a:ext cx="12702659" cy="3629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GeeksforGeeks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: https://www.geeksforgeeks.org/c-programming-language/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429086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s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" y="12193"/>
            <a:ext cx="14630401" cy="8217408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90553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41</TotalTime>
  <Application>Honor_Office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NAYEEM</dc:creator>
  <cp:lastModifiedBy>HONOR Docs</cp:lastModifiedBy>
  <cp:revision>5</cp:revision>
  <dcterms:created xsi:type="dcterms:W3CDTF">2025-08-20T04:15:58Z</dcterms:created>
  <dcterms:modified xsi:type="dcterms:W3CDTF">2025-08-20T05:03:38Z</dcterms:modified>
</cp:coreProperties>
</file>